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</p:sldIdLst>
  <p:sldSz cx="18288000" cy="10287000"/>
  <p:notesSz cx="6858000" cy="9144000"/>
  <p:embeddedFontLst>
    <p:embeddedFont>
      <p:font typeface="Arial Bold"/>
      <p:regular r:id="rId41"/>
      <p:bold r:id="rId42"/>
    </p:embeddedFont>
    <p:embeddedFont>
      <p:font typeface="Arial Italics" panose="020B0604020202020204" charset="0"/>
      <p:regular r:id="rId43"/>
    </p:embeddedFont>
    <p:embeddedFont>
      <p:font typeface="Calibri (MS)" panose="020B0604020202020204" charset="0"/>
      <p:regular r:id="rId44"/>
    </p:embeddedFont>
    <p:embeddedFont>
      <p:font typeface="Calibri (MS) Bold" panose="020B0604020202020204" charset="0"/>
      <p:regular r:id="rId45"/>
    </p:embeddedFont>
    <p:embeddedFont>
      <p:font typeface="Montserrat Heavy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C8B9B-9114-0064-D40F-4621D5D94295}" v="8" dt="2025-08-26T10:29:53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5" autoAdjust="0"/>
    <p:restoredTop sz="94660"/>
  </p:normalViewPr>
  <p:slideViewPr>
    <p:cSldViewPr snapToGrid="0">
      <p:cViewPr varScale="1">
        <p:scale>
          <a:sx n="56" d="100"/>
          <a:sy n="56" d="100"/>
        </p:scale>
        <p:origin x="354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font" Target="fonts/font3.fntdata"/><Relationship Id="rId44" Type="http://schemas.openxmlformats.org/officeDocument/2006/relationships/font" Target="fonts/font4.fntdata"/><Relationship Id="rId45" Type="http://schemas.openxmlformats.org/officeDocument/2006/relationships/font" Target="fonts/font5.fntdata"/><Relationship Id="rId46" Type="http://schemas.openxmlformats.org/officeDocument/2006/relationships/font" Target="fonts/font6.fnt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43.xml"/><Relationship Id="rId61" Type="http://schemas.openxmlformats.org/officeDocument/2006/relationships/slide" Target="slides/slide44.xml"/><Relationship Id="rId62" Type="http://schemas.openxmlformats.org/officeDocument/2006/relationships/slide" Target="slides/slide45.xml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Relationship Id="rId67" Type="http://schemas.openxmlformats.org/officeDocument/2006/relationships/slide" Target="slides/slide50.xml"/><Relationship Id="rId68" Type="http://schemas.openxmlformats.org/officeDocument/2006/relationships/slide" Target="slides/slide51.xml"/><Relationship Id="rId69" Type="http://schemas.openxmlformats.org/officeDocument/2006/relationships/slide" Target="slides/slide52.xml"/><Relationship Id="rId70" Type="http://schemas.openxmlformats.org/officeDocument/2006/relationships/slide" Target="slides/slide53.xml"/><Relationship Id="rId71" Type="http://schemas.openxmlformats.org/officeDocument/2006/relationships/slide" Target="slides/slide54.xml"/><Relationship Id="rId72" Type="http://schemas.openxmlformats.org/officeDocument/2006/relationships/slide" Target="slides/slide55.xml"/><Relationship Id="rId73" Type="http://schemas.openxmlformats.org/officeDocument/2006/relationships/slide" Target="slides/slide56.xml"/><Relationship Id="rId74" Type="http://schemas.openxmlformats.org/officeDocument/2006/relationships/slide" Target="slides/slide57.xml"/><Relationship Id="rId75" Type="http://schemas.openxmlformats.org/officeDocument/2006/relationships/slide" Target="slides/slide58.xml"/><Relationship Id="rId76" Type="http://schemas.openxmlformats.org/officeDocument/2006/relationships/slide" Target="slides/slide59.xml"/><Relationship Id="rId77" Type="http://schemas.openxmlformats.org/officeDocument/2006/relationships/slide" Target="slides/slide60.xml"/><Relationship Id="rId78" Type="http://schemas.openxmlformats.org/officeDocument/2006/relationships/slide" Target="slides/slide61.xml"/><Relationship Id="rId79" Type="http://schemas.openxmlformats.org/officeDocument/2006/relationships/slide" Target="slides/slide62.xml"/><Relationship Id="rId80" Type="http://schemas.openxmlformats.org/officeDocument/2006/relationships/slide" Target="slides/slide63.xml"/><Relationship Id="rId81" Type="http://schemas.openxmlformats.org/officeDocument/2006/relationships/slide" Target="slides/slide64.xml"/><Relationship Id="rId82" Type="http://schemas.openxmlformats.org/officeDocument/2006/relationships/slide" Target="slides/slide65.xml"/><Relationship Id="rId83" Type="http://schemas.openxmlformats.org/officeDocument/2006/relationships/slide" Target="slides/slide66.xml"/><Relationship Id="rId84" Type="http://schemas.openxmlformats.org/officeDocument/2006/relationships/slide" Target="slides/slide6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913EB6-F14C-96EF-56D6-332697B902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9605C-93A0-539C-56C2-A77C73CC25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DD587-EB7E-4205-AAB9-7EFF8CDAE41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F2C58-687D-AB38-DB25-10C8A86C2A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85A6E-607B-4611-757D-88023B461A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1AB0F-0C2E-4B83-A427-26F01B9A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517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27.08.2025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[0:00]  Chào hội đồng. Giới thiệu tên, đề tài, giảng viên hướng dẫn. Nói ngắn, đừng đọc lại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 Điểm nhanh năm chương. Nói: “phần trọng tâm là Chương 3 và Chương 4”.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 Mở bài bằng con số. Chỉ vào cột đỏ. Nhấn: cùng một mô hình, cùng một lần chạy, gan 94 mà tụy chỉ 54. Nếu bị hỏi vì sao túi mật còn thấp hơn: đúng, túi mật cũng khó, nhưng đề tài chọn tuyến tụy vì ý nghĩa lâm sàng và vì nó gom đủ ba khó khăn.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 Đọc chậm câu trong khung — câu hội đồng cần nghe rõ nhất. Ba câu hỏi con thì đọc lướt, nói “ba câu này sẽ được trả lời ở Chương 4” rồi chuyển. Nhớ: có hẳn một slide đóng lại ba câu hỏi này ở phút 16:30.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[3:45]  Lướt cả hai cột. Nhấn “so sánh nội bộ” — đây là chỗ bảo vệ tính công bằng của kết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[4:45]  Chỉ vào hình: bên trái CNN, giữa Transformer, phải bộ giải mã. Không đi vào chi tiết từng tầng.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[5:45]  Hai bước nối tiếp: kênh rồi không gian. Nhấn kết nối phần dư — nếu khối vô ích thì mạng tự bỏ qua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[6:45]  Ngắn thôi. Ý chính: reverse attention ép mô hình nhìn vào chỗ nó đang do dự. Báo trước rủi ro để nối mạch sang Chương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[7:45]  Slide bản lề. Nói chậm đoạn “cơ hội cuối cùng”. Sau bước tạo token thì cấu trúc lưới mất, không can thiệp theo không gian được nữa.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[8:45]  Chỉ đúng vị trí khối CBAM trên hình. Nhắc lại 1024 × 14 ×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[10:00]  Nhấn: không phải đổi gì hết. Con số +1,18 triệu là câu trả lời cho câu hỏi “có tốn kém không”.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[11:00]  Slide trả lời câu “tại sao bốn nhánh”. Hai trục nhị phân cho đúng bốn tổ hợp — không phải chọn bừa.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[12:00]  Slide phòng thủ. Nói trước khi hội đồng kịp hỏi: chênh lệch không đến từ việc nhánh nào nhiều tham số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[12:45]  Lướt nhanh. Nhấn “cùng một giao thức cho cả năm cấu hình”.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[13:30]  Dừng lại ở dòng vàng. Đọc to hai con số 59,23 và 12,97. Rồi nói mức cải thiện +4,86 và −2,41.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[14:45]  Slide quan trọng nhất. Chỉ vào điểm đỏ ở trên cao. Nói: nếu chọn theo recall thì đã chọn nhánh này, mà biên của nó tệ gấp hai lần rưỡi.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[15:45]  Ba tầng thua một tầng. Kết quả phản trực giác, nên nói rõ: can thiệp nhiều hơn không đồng nghĩa tốt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[16:30]  Slide đóng vòng lặp. Đọc lần lượt ba câu trả lời, đối chiếu ngược lại slide phút 2:30. Câu (ii) phải nói đúng chữ “thận trọng” — đừng khẳng định quá tay, vì đa tỷ lệ vẫn hơn ở Jaccard và RA nối tắt vẫn hơn ở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[17:30]  Chỉ vào một hai chỗ viền được khôi phục. Đừng mô tả từng 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[18:00]  Nhấn ngay câu đỏ: đây là tham chiếu, không phải đo lại. Nói trước để hội đồng không bắt lỗi.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[18:40]  Slide phòng thủ thứ hai. Tự nêu gan và động mạch chủ giảm. Nhấn: vì vậy chỉ kết luận trong phạm vi tuyến tụy.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[19:15]  Đọc lướt hai cột. Phần nhược điểm nói thẳng, đừng 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[19:40]  Dừng ở slide này suốt phần hỏi đáp. Đọc ba ý. Nhắc bài báo IC3T 2026. Kết: “Em xin hết phần trình bày, kính mời quý Thầy Cô đặt câu hỏi.”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[—]  Chỉ mở nếu được hỏi nguồn.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Dice 59% có thấp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CBAM hoạt động thế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sao chưa làm ablation tách thành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cấu hình máy, thời gian huấn luyện.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kết quả các cơ quan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sao chỉ một bộ dữ liệu, sao không dùng 3D.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hai nhánh reverse attention đặt ở đâu.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hỏi: HD95 là gì, sao cần bốn chỉ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[PHỤ LỤC]  Mở khi bị hỏi về bài báo đã nộp ở hội nghị IC3T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3EE8-87EB-4291-9F1E-78A00486A637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8B40C1-E5EC-336D-10E2-155EABF4387B}"/>
              </a:ext>
            </a:extLst>
          </p:cNvPr>
          <p:cNvSpPr txBox="1">
            <a:spLocks/>
          </p:cNvSpPr>
          <p:nvPr userDrawn="1"/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4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8542-0CEF-489E-9B4C-47531206B4B7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196DA8-FE9C-9313-E693-98999DE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37BC6-40EA-4A01-B11E-22A554F7897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BC62C2-2016-62FC-EB9D-DD9207862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62F8-EA95-44BC-9910-BA76A674CCF8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002000" y="92075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F7DD-5221-4ED7-B4D4-0BF462F4CF18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FF8A-049B-4CA2-A615-509722968341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45CC5-0B1B-42B0-E8E6-E2BB45121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CCD-117F-4514-871A-9BCD095BBFEB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FB553FC-C94B-BA83-D8C1-1DAE7B6BD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798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C616951-A16D-4E10-A5BB-97F47D9A2E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1172-9202-4D05-AF04-A91F7B90728C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BB5BEB-6607-D567-6F62-22D982CCC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70D13-96F7-4535-BB72-99C9A6497CC1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E4B712-6813-A57C-650B-355B30B1E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CA22-6311-4FD8-95E7-72CC41F31A34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EF25A6-97C7-6E38-3409-DAE0720C5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8D67-5F45-48C0-8064-6BF254CCB505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C963E9-8A82-A3DB-FF9E-F9D4553EB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1544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DB50F-173B-424F-815E-587FB3F1E48D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7900" y="2746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09F7D6D-7EFB-4971-9DD9-2C2E5B8553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8.png"/><Relationship Id="rId7" Type="http://schemas.openxmlformats.org/officeDocument/2006/relationships/notesSlide" Target="../notesSlides/notesSlide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9.png"/><Relationship Id="rId7" Type="http://schemas.openxmlformats.org/officeDocument/2006/relationships/notesSlide" Target="../notesSlides/notesSlide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0.png"/><Relationship Id="rId7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1.png"/><Relationship Id="rId7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2.png"/><Relationship Id="rId7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1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3.png"/><Relationship Id="rId7" Type="http://schemas.openxmlformats.org/officeDocument/2006/relationships/notesSlide" Target="../notesSlides/notesSlide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1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1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4.png"/><Relationship Id="rId7" Type="http://schemas.openxmlformats.org/officeDocument/2006/relationships/notesSlide" Target="../notesSlides/notesSlide1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5.png"/><Relationship Id="rId7" Type="http://schemas.openxmlformats.org/officeDocument/2006/relationships/notesSlide" Target="../notesSlides/notesSlide2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2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3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notesSlide" Target="../notesSlides/notesSlide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notesSlide" Target="../notesSlides/notesSlide3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88.jpg"/><Relationship Id="rId7" Type="http://schemas.openxmlformats.org/officeDocument/2006/relationships/notesSlide" Target="../notesSlides/notesSlide33.xml"/></Relationships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4"/>
          <p:cNvGrpSpPr/>
          <p:nvPr/>
        </p:nvGrpSpPr>
        <p:grpSpPr>
          <a:xfrm>
            <a:off x="-24703" y="9912327"/>
            <a:ext cx="14243641" cy="381817"/>
            <a:chOff x="0" y="0"/>
            <a:chExt cx="18986500" cy="4540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86500" cy="454025"/>
            </a:xfrm>
            <a:custGeom>
              <a:avLst/>
              <a:gdLst/>
              <a:ahLst/>
              <a:cxnLst/>
              <a:rect l="l" t="t" r="r" b="b"/>
              <a:pathLst>
                <a:path w="18986500" h="454025">
                  <a:moveTo>
                    <a:pt x="0" y="0"/>
                  </a:moveTo>
                  <a:lnTo>
                    <a:pt x="18986500" y="0"/>
                  </a:lnTo>
                  <a:lnTo>
                    <a:pt x="18580100" y="454025"/>
                  </a:lnTo>
                  <a:lnTo>
                    <a:pt x="0" y="454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682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11312" y="9527382"/>
            <a:ext cx="3998119" cy="597694"/>
            <a:chOff x="0" y="0"/>
            <a:chExt cx="5330825" cy="7969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0825" cy="796925"/>
            </a:xfrm>
            <a:custGeom>
              <a:avLst/>
              <a:gdLst/>
              <a:ahLst/>
              <a:cxnLst/>
              <a:rect l="l" t="t" r="r" b="b"/>
              <a:pathLst>
                <a:path w="5330825" h="796925">
                  <a:moveTo>
                    <a:pt x="659384" y="0"/>
                  </a:moveTo>
                  <a:lnTo>
                    <a:pt x="5330825" y="1524"/>
                  </a:lnTo>
                  <a:lnTo>
                    <a:pt x="5330825" y="796925"/>
                  </a:lnTo>
                  <a:lnTo>
                    <a:pt x="0" y="790575"/>
                  </a:lnTo>
                  <a:lnTo>
                    <a:pt x="659384" y="0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049628" y="9640418"/>
            <a:ext cx="3224688" cy="35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www.huflit.edu.vn</a:t>
            </a:r>
          </a:p>
        </p:txBody>
      </p:sp>
      <p:sp>
        <p:nvSpPr>
          <p:cNvPr id="9" name="AutoShape 9"/>
          <p:cNvSpPr/>
          <p:nvPr/>
        </p:nvSpPr>
        <p:spPr>
          <a:xfrm>
            <a:off x="-13328" y="9677362"/>
            <a:ext cx="14381790" cy="1068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14375594" y="9308634"/>
            <a:ext cx="335757" cy="376238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4701826" y="9308634"/>
            <a:ext cx="3607593" cy="9525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352744" y="122356"/>
            <a:ext cx="2349288" cy="1480989"/>
            <a:chOff x="0" y="0"/>
            <a:chExt cx="3822700" cy="2409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22700" cy="2409825"/>
            </a:xfrm>
            <a:custGeom>
              <a:avLst/>
              <a:gdLst/>
              <a:ahLst/>
              <a:cxnLst/>
              <a:rect l="l" t="t" r="r" b="b"/>
              <a:pathLst>
                <a:path w="3822700" h="2409825">
                  <a:moveTo>
                    <a:pt x="0" y="0"/>
                  </a:moveTo>
                  <a:lnTo>
                    <a:pt x="3822700" y="0"/>
                  </a:lnTo>
                  <a:lnTo>
                    <a:pt x="3822700" y="2409825"/>
                  </a:lnTo>
                  <a:lnTo>
                    <a:pt x="0" y="2409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834640" y="320040"/>
            <a:ext cx="1307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459E"/>
                </a:solidFill>
                <a:latin typeface="Arial"/>
              </a:rPr>
              <a:t>TRƯỜNG ĐẠI HỌC NGOẠI NGỮ – TIN HỌC TP. HỒ CHÍ MINH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896112"/>
            <a:ext cx="1444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459E"/>
                </a:solidFill>
                <a:latin typeface="Arial"/>
              </a:rPr>
              <a:t>HO CHI MINH CITY UNIVERSITY OF FOREIGN LANGUAGES – INFORMATION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627632"/>
            <a:ext cx="1591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18459E"/>
                </a:solidFill>
                <a:latin typeface="Arial"/>
              </a:rPr>
              <a:t>Khoa Công Nghệ Thông 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2011680"/>
            <a:ext cx="182880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8459E"/>
                </a:solidFill>
                <a:latin typeface="Arial"/>
              </a:rPr>
              <a:t>KHÓA LUẬN TỐT NGHIỆP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2743200"/>
            <a:ext cx="1828800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8459E"/>
                </a:solidFill>
                <a:latin typeface="Arial"/>
              </a:rPr>
              <a:t>CHUYÊN NGÀNH KHOA HỌC MÁY TÍNH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17190720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02324"/>
                </a:solidFill>
                <a:latin typeface="Arial"/>
              </a:rPr>
              <a:t>PHÂN ĐOẠN ẢNH TUYẾN TỤY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02324"/>
                </a:solidFill>
                <a:latin typeface="Arial"/>
              </a:rPr>
              <a:t>TRÊN CƠ CHẾ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8459E"/>
                </a:solidFill>
                <a:latin typeface="Arial"/>
              </a:rPr>
              <a:t>Khảo sát vị trí đặt mô-đun Attention trong kiến trúc TransUNet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7223760"/>
            <a:ext cx="11887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18459E"/>
                </a:solidFill>
                <a:latin typeface="Arial"/>
              </a:rPr>
              <a:t>Giảng viên hướng dẫn:  </a:t>
            </a:r>
            <a:r>
              <a:rPr sz="2600" b="1" i="0">
                <a:solidFill>
                  <a:srgbClr val="18459E"/>
                </a:solidFill>
                <a:latin typeface="Arial"/>
              </a:rPr>
              <a:t>TS. Võ Thị Hồng Tuyết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18459E"/>
                </a:solidFill>
                <a:latin typeface="Arial"/>
              </a:rPr>
              <a:t>Sinh viên thực hiện:  </a:t>
            </a:r>
            <a:r>
              <a:rPr sz="2600" b="1" i="0">
                <a:solidFill>
                  <a:srgbClr val="18459E"/>
                </a:solidFill>
                <a:latin typeface="Arial"/>
              </a:rPr>
              <a:t>Danh Hoàng Hiếu Nghị</a:t>
            </a:r>
            <a:r>
              <a:rPr sz="2600" b="0" i="0">
                <a:solidFill>
                  <a:srgbClr val="18459E"/>
                </a:solidFill>
                <a:latin typeface="Arial"/>
              </a:rPr>
              <a:t>  –  MSSV: 23DH112270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18459E"/>
                </a:solidFill>
                <a:latin typeface="Arial"/>
              </a:rPr>
              <a:t>Niên khóa:  </a:t>
            </a:r>
            <a:r>
              <a:rPr sz="2600" b="1" i="0">
                <a:solidFill>
                  <a:srgbClr val="18459E"/>
                </a:solidFill>
                <a:latin typeface="Arial"/>
              </a:rPr>
              <a:t>K29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9875520"/>
            <a:ext cx="1389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FFFFF"/>
                </a:solidFill>
                <a:latin typeface="Arial"/>
              </a:rPr>
              <a:t>TP.HCM, tháng 8 năm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NỘI DUNG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1F4E79"/>
                </a:solidFill>
                <a:latin typeface="Arial"/>
              </a:rPr>
              <a:t>Nội dung trình bày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" y="2784348"/>
            <a:ext cx="850392" cy="10424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784348"/>
            <a:ext cx="850392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2811779"/>
            <a:ext cx="1527002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Mở đầu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Bối cảnh, câu hỏi nghiên cứu, phạm vi và đóng góp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4197096"/>
            <a:ext cx="850392" cy="10424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197096"/>
            <a:ext cx="850392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2" y="4224527"/>
            <a:ext cx="1527002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Cơ sở lý thuyết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TransUNet, CBAM, Reverse Attention và khoảng trống nghiên cứu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5609844"/>
            <a:ext cx="850392" cy="10424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609844"/>
            <a:ext cx="850392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5637275"/>
            <a:ext cx="1527002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Phương pháp đề xuất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Vị trí chèn, bốn nhánh khảo sát, chi phí tham số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" y="7022591"/>
            <a:ext cx="850392" cy="10424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7022591"/>
            <a:ext cx="850392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7050023"/>
            <a:ext cx="1527002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Thực nghiệm và đánh giá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Kết quả trên bốn chỉ số, phân tích và giới hạn kết luận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" y="8435340"/>
            <a:ext cx="850392" cy="1042416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8435340"/>
            <a:ext cx="850392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2" y="8462772"/>
            <a:ext cx="1527002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Kết luận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Ưu nhược điểm của phương pháp và hướng phát triển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MỞ ĐẦU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5792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Tuyến tụy nằm trong nhóm cơ quan khó phân đoạn nhất: Dice chỉ 54% trong khi gan đạt 94%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moi_1_tam_co_qu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3214279"/>
            <a:ext cx="9738359" cy="53809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41380" y="2784348"/>
            <a:ext cx="641908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Ba khó khăn cộng dồn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1380" y="3442715"/>
            <a:ext cx="6419088" cy="562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Tương phản thấp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với mô mềm lân cận, ranh giới mờ  [3]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Biến thiên lớn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về hình dạng và vị trí giữa các ca  [3]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Thể tích nhỏ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chưa tới 1% số điểm ảnh mỗi lát cắt  [4]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1" i="0">
                <a:solidFill>
                  <a:srgbClr val="C00000"/>
                </a:solidFill>
                <a:latin typeface="Arial"/>
              </a:rPr>
              <a:t>Chênh 39,97 điểm Dice so với gan, cùng một mô hình, cùng một lần chạy.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[3] H. R. Roth và cộng sự, “DeepOrgan: Multi-level Deep Convolutional Networks for Automated Pancreas Segmentation,” MICCAI,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[4] J. Ma và cộng sự, “AbdomenCT-1K: Is Abdominal Organ Segmentation a Solved Problem?,” IEEE TPAMI, 2022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liệu Dice do khóa luận tự đo trên bộ Synapse, cách chia 18/12 — Bảng 4.5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MỞ ĐẦU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5792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Câu hỏi: đặt mô-đun Attention ở đâu trong TransUNet thì có lợi nhất cho tuyến tụy?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2784348"/>
            <a:ext cx="16641622" cy="185166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39" y="3058668"/>
            <a:ext cx="15818662" cy="1303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3900" b="1" i="0">
                <a:solidFill>
                  <a:srgbClr val="1F4E79"/>
                </a:solidFill>
                <a:latin typeface="Arial"/>
              </a:rPr>
              <a:t>Vị trí đặt Attention có phải một biến thiết kế độc lập, tự nó tạo ra khác biệt hay không?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143500"/>
            <a:ext cx="16641622" cy="4526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3450" b="1" i="0">
                <a:solidFill>
                  <a:srgbClr val="2E75B6"/>
                </a:solidFill>
                <a:latin typeface="Arial"/>
              </a:rPr>
              <a:t>(i)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CBAM ngay trước bước tạo token có cải thiện kết quả tuyến tụy so với kiến trúc TransUNet không?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3450" b="1" i="0">
                <a:solidFill>
                  <a:srgbClr val="2E75B6"/>
                </a:solidFill>
                <a:latin typeface="Arial"/>
              </a:rPr>
              <a:t>(ii)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So với tinh chỉnh nhiều tầng nông hơn, hoặc thêm reverse attention ở phía bộ giải mã, phương án này có ưu thế không?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3450" b="1" i="0">
                <a:solidFill>
                  <a:srgbClr val="2E75B6"/>
                </a:solidFill>
                <a:latin typeface="Arial"/>
              </a:rPr>
              <a:t>(iii)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Khi xét đồng thời độ trùng khớp vùng và sai lệch biên, cấu hình nào cho hành vi cân bằng nhất?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MỞ ĐẦU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5792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Phạm vi: một bộ dữ liệu, một giao thức cố định — đủ để trả lời câu hỏi vị trí một cách công bằng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784348"/>
            <a:ext cx="89154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Phạm 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442715"/>
            <a:ext cx="8915400" cy="5897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Dữ liệu: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Synapse [10], 18 ca huấn luyện / 12 ca kiểm thử — đúng cách chia của [8]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Huấn luyện: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theo lát cắt hai chiều, đánh giá ở mức khối ba chiều [8]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Mục tiêu chính: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lớp tuyến tụy; bảy cơ quan còn lại chỉ để đặt bối cảnh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Chủ đích: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không nhằm lập kỷ lục hiệu năng, mà cố định mọi yếu tố ngoài vị trí can thiệp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784348"/>
            <a:ext cx="71734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Ba đóng góp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3442715"/>
            <a:ext cx="7173468" cy="5897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Lý thuyết: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chỉ ra vì sao điểm nối CNN – Transformer đáng can thiệp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Phương pháp: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chèn khối CBAM [9] phần dư trước bước tạo token, kèm bốn nhánh đối chứng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Thực nghiệm: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dẫn đầu đồng thời độ trùng khớp và sai lệch biên, với +1,1% tham số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[10] B. Landman và cộng sự, “MICCAI Multi-Atlas Labeling Beyond the Cranial Vault – Workshop and Challenge,” Synapse, 2015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TỔNG QUAN CƠ SỞ LÝ THUYẾT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4117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TransUNet ghép CNN với Transformer: CNN giữ chi tiết vị trí, Transformer nhìn ngữ cảnh toàn cục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h3_1_transun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3390991"/>
            <a:ext cx="9738359" cy="495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41380" y="2784348"/>
            <a:ext cx="641908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Vì sao cần cả hai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1380" y="3470148"/>
            <a:ext cx="6419088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CNN đơn thuần: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tầm nhìn cục bộ, không thấy quan hệ xa  [6]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ViT đơn thuần: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thấy toàn cục nhưng đánh mất cấu trúc lưới  [12]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TransUNet: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ghép ResNet-50 [11] với 12 khối Transformer [7], bộ giải mã CUP và ba nhánh nối tắt  [8]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[6] O. Ronneberger, P. Fischer, T. Brox, “U-Net: Convolutional Networks for Biomedical Image Segmentation,” MICCAI,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[7] A. Vaswani và cộng sự, “Attention Is All You Need,” NeurIPS, 2017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[11] K. He, X. Zhang, S. Ren, J. Sun, “Deep Residual Learning for Image Recognition,” CVPR, 2016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[12] A. Dosovitskiy và cộng sự, “An Image Is Worth 16x16 Words,” ICLR,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Nguồn hình: [8] — Hình 3.1 của khóa luận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TỔNG QUAN CƠ SỞ LÝ THUYẾT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4117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CBAM chọn lọc theo kênh rồi theo không gian, chi phí tham số gần như bằng không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h3_2_cbam_luo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269" y="2990087"/>
            <a:ext cx="9131741" cy="58978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41380" y="2784348"/>
            <a:ext cx="641908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Hai bước nối tiếp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1380" y="3470148"/>
            <a:ext cx="6419088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2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Theo kênh: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kênh đặc trưng nào đáng chú trọng — kế thừa SE [25]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2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Theo không gian: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vùng không gian nào đáng chú trọng  [9]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2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Kết nối phần dư: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cho phép mạng thoái lui về hành vi ban đầu nếu khối không có ích  [11]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[11] K. He, X. Zhang, S. Ren, J. Sun, “Deep Residual Learning for Image Recognition,” CVPR, 2016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[25] J. Hu, L. Shen, G. Sun, “Squeeze-and-Excitation Networks,” CVPR,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Nguồn cơ chế: [9] — Hình 3.2 của khóa luận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TỔNG QUAN CƠ SỞ LÝ THUYẾT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4117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Reverse Attention buộc mô hình học lại đúng phần đang bị bỏ sót ở rìa đối tượng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2784348"/>
            <a:ext cx="16641622" cy="1645919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39" y="3058668"/>
            <a:ext cx="1581866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3750" b="0" i="0">
                <a:solidFill>
                  <a:srgbClr val="2D2D2D"/>
                </a:solidFill>
                <a:latin typeface="Arial"/>
              </a:rPr>
              <a:t>Nghịch đảo bản đồ dự đoán:   </a:t>
            </a:r>
            <a:r>
              <a:rPr sz="3750" b="1" i="0">
                <a:solidFill>
                  <a:srgbClr val="1F4E79"/>
                </a:solidFill>
                <a:latin typeface="Arial"/>
              </a:rPr>
              <a:t>A</a:t>
            </a:r>
            <a:r>
              <a:rPr sz="2400" b="1" i="0">
                <a:solidFill>
                  <a:srgbClr val="1F4E79"/>
                </a:solidFill>
                <a:latin typeface="Arial"/>
              </a:rPr>
              <a:t>ngược</a:t>
            </a:r>
            <a:r>
              <a:rPr sz="3750" b="1" i="0">
                <a:solidFill>
                  <a:srgbClr val="1F4E79"/>
                </a:solidFill>
                <a:latin typeface="Arial"/>
              </a:rPr>
              <a:t>  =  1 − σ(A)</a:t>
            </a:r>
            <a:r>
              <a:rPr sz="3750" b="0" i="0">
                <a:solidFill>
                  <a:srgbClr val="2D2D2D"/>
                </a:solidFill>
                <a:latin typeface="Arial"/>
              </a:rPr>
              <a:t>   rồi nhân ngược vào đặc trưng  [28]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006340"/>
            <a:ext cx="16641622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200"/>
              </a:spcAft>
            </a:pPr>
            <a:r>
              <a:rPr sz="34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450" b="1" i="0">
                <a:solidFill>
                  <a:srgbClr val="2D2D2D"/>
                </a:solidFill>
                <a:latin typeface="Arial"/>
              </a:rPr>
              <a:t>Hệ quả: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vùng mô hình đã tự tin bị hạ trọng số, vùng còn do dự được đẩy lên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200"/>
              </a:spcAft>
            </a:pPr>
            <a:r>
              <a:rPr sz="34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450" b="1" i="0">
                <a:solidFill>
                  <a:srgbClr val="2D2D2D"/>
                </a:solidFill>
                <a:latin typeface="Arial"/>
              </a:rPr>
              <a:t>Vùng do dự: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thường là đường viền và các nhánh mảnh — đúng chỗ tuyến tụy hay bị mất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200"/>
              </a:spcAft>
            </a:pPr>
            <a:r>
              <a:rPr sz="34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450" b="1" i="0">
                <a:solidFill>
                  <a:srgbClr val="2D2D2D"/>
                </a:solidFill>
                <a:latin typeface="Arial"/>
              </a:rPr>
              <a:t>Rủi ro: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đẩy độ phủ lên cao nhưng có thể làm đường viền xấu đi, sẽ thấy rõ ở Chương 4  [29]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[29] D.-P. Fan và cộng sự, “PraNet: Parallel Reverse Attention Network for Polyp Segmentation,” MICCAI, 2020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TỔNG QUAN CƠ SỞ LÝ THUYẾT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4117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F4E79"/>
                </a:solidFill>
                <a:latin typeface="Arial"/>
              </a:rPr>
              <a:t>Khoảng trống: các công trình đều can thiệp ở nhánh nối tắt hoặc bộ giải mã, chưa ai chạm vào điểm nối trước tạo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784348"/>
            <a:ext cx="1664162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Attention U-Net, UCTransNet: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thêm cổng chọn lọc lên đường nối tắt  [19], [23]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Các biến thể reverse attention: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can thiệp bên trong bộ giải mã  [26], [29]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5116067"/>
            <a:ext cx="16641622" cy="267462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5390388"/>
            <a:ext cx="15818662" cy="21259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0" i="0">
                <a:solidFill>
                  <a:srgbClr val="2D2D2D"/>
                </a:solidFill>
                <a:latin typeface="Arial"/>
              </a:rPr>
              <a:t>Bản đồ đặc trưng ngay trước bước tạo token là biểu diễn cuối cùng còn hội đủ CẢ HAI tính chất: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đã đủ trừu tượng về ngữ nghĩa   ·   vẫn còn nguyên cấu trúc lưới hai chiều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7941563"/>
            <a:ext cx="1664162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C00000"/>
                </a:solidFill>
                <a:latin typeface="Arial"/>
              </a:rPr>
              <a:t>Sau bước tạo token, tính chất thứ hai biến mất — đây là cơ hội cuối cùng để can thiệp theo không gian.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[19] O. Oktay và cộng sự, “Attention U-Net: Learning Where to Look for the Pancreas,” arXiv:1804.03999,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[23] H. Wang, P. Cao, J. Wang, O. R. Zaiane, “UCTransNet: Rethinking the Skip Connections in U-Net,” AAAI, 2022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[26] F. Lu, J. Xu, Q. Sun, Q. Lou, “FMD-TransUNet,” Applied Intelligence, 2025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[29] D.-P. Fan và cộng sự, “PraNet: Parallel Reverse Attention Network for Polyp Segmentation,” MICCAI, 2020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PHƯƠNG PHÁP ĐỀ XUẤT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2441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Đặc trưng ẩn 1024 × 14 × 14 là biểu diễn cuối cùng còn giữ cấu trúc lưới hai chiều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h3_3_dexu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10" y="2702051"/>
            <a:ext cx="7531138" cy="62407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18420" y="2784348"/>
            <a:ext cx="724204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Điểm chèn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8420" y="3442715"/>
            <a:ext cx="7242048" cy="562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Trước: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bộ mã hóa ResNet-50 [11] sinh đặc trưng ẩn 1024 × 14 × 14  [8]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Chèn: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một khối CBAM [9] phần dư tinh chỉnh đúng bản đồ này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Sau: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chiếu xuống 768 kênh, trải thành 196 token  [8], [12]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Khối nằm đúng tại ranh giới giữa mạng tích chập và Transformer.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[11] K. He, X. Zhang, S. Ren, J. Sun, “Deep Residual Learning for Image Recognition,” CVPR, 2016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[12] A. Dosovitskiy và cộng sự, “An Image Is Worth 16x16 Words,” ICLR,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Hình 3.3 của khóa luận — thiết kế của đề tài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PHƯƠNG PHÁP ĐỀ XUẤT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2441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Khối CBAM phần dư bảo toàn hình dạng tensor nên không phải đổi bất kỳ phần nào còn lại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784348"/>
            <a:ext cx="80924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Giữ nguyên hoàn toàn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470148"/>
            <a:ext cx="8092440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Số token: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196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Số chiều token: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768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Số khối Transformer: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12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Bộ giải mã: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CUP, ba nhánh nối tắt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Giao thức huấn luyện: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không đổi một siêu tham số nào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tham số do khóa luận đếm trực tiếp — Bảng 3.4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2620" y="2921508"/>
            <a:ext cx="7927848" cy="4526279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28575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360420"/>
            <a:ext cx="6995159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7A5200"/>
                </a:solidFill>
                <a:latin typeface="Arial"/>
              </a:rPr>
              <a:t>Cái giá phải trả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1F4E79"/>
                </a:solidFill>
                <a:latin typeface="Arial"/>
              </a:rPr>
              <a:t>+1,18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triệu tham số, tức +1,12% so với 105,28 triệu của kiến trúc TransUNet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2620" y="7790688"/>
            <a:ext cx="79278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777777"/>
                </a:solidFill>
                <a:latin typeface="Arial"/>
              </a:rPr>
              <a:t>Ghép được vào hệ thống TransUNet đang chạy mà không phải hiệu chỉnh lại hạ tầng.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PHƯƠNG PHÁP ĐỀ XUẤT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2441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Bốn nhánh phủ trọn hai trục nhị phân: trước hay sau bước tạo token, can thiệp hẹp hay rộng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moi_3_ma_tr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883836"/>
            <a:ext cx="11384280" cy="652186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550140" y="3401568"/>
            <a:ext cx="4910328" cy="5897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300" b="1" i="0">
                <a:solidFill>
                  <a:srgbClr val="2E75B6"/>
                </a:solidFill>
                <a:latin typeface="Arial"/>
              </a:rPr>
              <a:t>Vì sao đúng bốn?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Hai trục nhị phân cho đúng bốn tổ hợp.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Thêm nhánh thứ năm chỉ lặp lại một tổ hợp ở tỷ lệ khác, mà phải trả giá bằng một lần huấn luyện đầy đủ.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5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Bớt một nhánh sẽ để trống một tổ hợp và làm kết luận về vị trí không còn đầy đủ.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Cách bố trí bốn nhánh là thiết kế của đề tài — Bảng 3.2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PHƯƠNG PHÁP ĐỀ XUẤT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2441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Bốn nhánh chênh nhau dưới 1,3% tham số nên chênh lệch kết quả không đến từ dung lượng mô hình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59" y="2784348"/>
          <a:ext cx="16641620" cy="4526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05045"/>
                <a:gridCol w="3263063"/>
                <a:gridCol w="2773603"/>
                <a:gridCol w="3099909"/>
              </a:tblGrid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FFFFFF"/>
                          </a:solidFill>
                          <a:latin typeface="Arial"/>
                        </a:rPr>
                        <a:t>Cấu hình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FFFFFF"/>
                          </a:solidFill>
                          <a:latin typeface="Arial"/>
                        </a:rPr>
                        <a:t>Tham số (triệu)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FFFFFF"/>
                          </a:solidFill>
                          <a:latin typeface="Arial"/>
                        </a:rPr>
                        <a:t>Chênh lệch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FFFFFF"/>
                          </a:solidFill>
                          <a:latin typeface="Arial"/>
                        </a:rPr>
                        <a:t>Chênh lệch (%)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Kiến trúc TransUNet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105,28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N1 — CBAM đa tỷ lệ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106,18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+0,90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+0,86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1F4E79"/>
                          </a:solidFill>
                          <a:latin typeface="Arial"/>
                        </a:rPr>
                        <a:t>N2 — CBAM trước bước tạo token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1F4E79"/>
                          </a:solidFill>
                          <a:latin typeface="Arial"/>
                        </a:rPr>
                        <a:t>106,46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1F4E79"/>
                          </a:solidFill>
                          <a:latin typeface="Arial"/>
                        </a:rPr>
                        <a:t>+1,18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1F4E79"/>
                          </a:solidFill>
                          <a:latin typeface="Arial"/>
                        </a:rPr>
                        <a:t>+1,12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N3 — CBAM + RA trên nhánh nối tắt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106,74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+1,46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+1,39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N4 — CBAM + RA sau phép nối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107,59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+2,31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+2,19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22959" y="7584947"/>
            <a:ext cx="1664162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Nhánh đề xuất (dòng tô vàng) không phải nhánh nặng nhất — chỉ đứng thứ ba về số tham số.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2850" b="0" i="0">
                <a:solidFill>
                  <a:srgbClr val="2D2D2D"/>
                </a:solidFill>
                <a:latin typeface="Arial"/>
              </a:rPr>
              <a:t>Nhánh nhẹ nhất và nặng nhất chỉ cách nhau 1,41 triệu tham số.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liệu do khóa luận đếm trực tiếp trên mô hình đã dựng — Bảng 3.4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Năm cấu hình chạy chung một giao thức: cùng dữ liệu, cùng ngân sách, cùng cách đo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784348"/>
            <a:ext cx="80924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Thiết lập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470148"/>
            <a:ext cx="8092440" cy="5897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7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Dữ liệu: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Synapse [10], 18 ca / 12 ca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7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Đầu vào: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224 × 224, chín lớp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7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Huấn luyện: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150 vòng, hạt giống cố định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7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Hàm mất mát: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entropy chéo kết hợp Dice loss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7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Phần cứng: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một GPU Tesla T4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2620" y="2784348"/>
            <a:ext cx="792784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Bốn chỉ số, hai nhóm bổ sung nhau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2620" y="3470148"/>
            <a:ext cx="7927848" cy="5897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150" b="1" i="0">
                <a:solidFill>
                  <a:srgbClr val="1F4E79"/>
                </a:solidFill>
                <a:latin typeface="Arial"/>
              </a:rPr>
              <a:t>Trùng khớp vùng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Dice, Jaccard: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mức chồng lấn dự đoán ↔ nhãn  [16]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Recall: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tỷ lệ phần thật được tìm thấy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150" b="1" i="0">
                <a:solidFill>
                  <a:srgbClr val="1F4E79"/>
                </a:solidFill>
                <a:latin typeface="Arial"/>
              </a:rPr>
              <a:t>Sai lệch biên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HD95: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khoảng cách viền, phạt nặng phần lạc chỗ  [16]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[10] B. Landman và cộng sự, “MICCAI Multi-Atlas Labeling Beyond the Cranial Vault – Workshop and Challenge,” Synapse,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[16] A. A. Taha, A. Hanbury, “Metrics for evaluating 3D medical image segmentation,” BMC Medical Imaging,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Bốn chỉ số đã trình bày ở mục 2.10 và 2.11 của khóa luận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Đặt CBAM trước bước tạo token đạt Dice 59,23% và HD95 12,97 mm — tốt nhất ở cả hai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59" y="2784348"/>
          <a:ext cx="16641619" cy="4526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205350"/>
                <a:gridCol w="2115460"/>
                <a:gridCol w="1974429"/>
                <a:gridCol w="1974429"/>
                <a:gridCol w="2256491"/>
                <a:gridCol w="2115460"/>
              </a:tblGrid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Cấu hình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Dice ↑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HD95 ↓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Jaccard ↑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Recall ↑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Kiến trúc TransUNet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105,28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54,37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15,38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39,66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44,41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N1 — CBAM đa tỷ lệ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106,18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58,93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13,20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44,24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50,22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N2 — CBAM trước bước tạo token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106,46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59,23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12,97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43,94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48,94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N3 — CBAM + RA trên nhánh nối tắt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106,74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58,32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32,17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42,95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52,33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N4 — CBAM + RA sau phép nối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107,59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55,95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13,13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40,99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46,28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22959" y="7749540"/>
            <a:ext cx="16641622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3300" b="1" i="0">
                <a:solidFill>
                  <a:srgbClr val="1F4E79"/>
                </a:solidFill>
                <a:latin typeface="Arial"/>
              </a:rPr>
              <a:t>So với kiến trúc TransUNet: +4,86 điểm Dice và giảm 2,41 mm HD95.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Dòng tô vàng là cấu hình đề xuất. Dice và Jaccard tính theo phần trăm, HD95 tính theo milimét.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liệu do khóa luận tự đo ở mức khối ba chiều trên 12 ca kiểm thử — Bảng 4.3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Đây là cấu hình duy nhất dẫn đầu cả hai trục — ba nhánh còn lại đều phải đánh đổi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moi_2_danh_do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842" y="2784348"/>
            <a:ext cx="9644594" cy="63093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41380" y="2784348"/>
            <a:ext cx="641908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Đọc hình thế nào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1380" y="3442715"/>
            <a:ext cx="6419088" cy="562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850" b="0" i="0">
                <a:solidFill>
                  <a:srgbClr val="2D2D2D"/>
                </a:solidFill>
                <a:latin typeface="Arial"/>
              </a:rPr>
              <a:t>Đường đứt nét là mốc TransUNet. Vùng vàng là nơi tốt hơn mốc ở cả hai chỉ số.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Nhánh đề xuất: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nằm sâu nhất trong vùng vàng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Nhánh RA nối tắt: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văng hẳn lên trên, HD95 32,17 mm — gấp gần hai lần rưỡi nhánh đề xuất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850" b="1" i="0">
                <a:solidFill>
                  <a:srgbClr val="C00000"/>
                </a:solidFill>
                <a:latin typeface="Arial"/>
              </a:rPr>
              <a:t>Nếu chỉ nhìn recall thì đã chọn nhầm nhánh này.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Hình do khóa luận dựng từ số liệu tự đo — Bảng 4.3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Can thiệp nhiều tầng hơn không đồng nghĩa với tốt hơn: ba tầng vẫn thua một tầng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59" y="2784348"/>
          <a:ext cx="16641620" cy="39776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71969"/>
                <a:gridCol w="2097683"/>
                <a:gridCol w="2377374"/>
                <a:gridCol w="2517220"/>
                <a:gridCol w="2377374"/>
              </a:tblGrid>
              <a:tr h="79552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So với kiến trúc TransUNet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ΔDice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ΔHD95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ΔJaccard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ΔRecall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N1 — CBAM đa tỷ lệ (ba tầng)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+4,56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−2,18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+4,58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+5,81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N2 — CBAM trước tạo token (một tầng)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+4,86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−2,41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+4,28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+4,53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C00000"/>
                          </a:solidFill>
                          <a:latin typeface="Arial"/>
                        </a:rPr>
                        <a:t>N3 — CBAM + RA trên nhánh nối tắt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C00000"/>
                          </a:solidFill>
                          <a:latin typeface="Arial"/>
                        </a:rPr>
                        <a:t>+3,95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C00000"/>
                          </a:solidFill>
                          <a:latin typeface="Arial"/>
                        </a:rPr>
                        <a:t>+16,79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C00000"/>
                          </a:solidFill>
                          <a:latin typeface="Arial"/>
                        </a:rPr>
                        <a:t>+3,29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C00000"/>
                          </a:solidFill>
                          <a:latin typeface="Arial"/>
                        </a:rPr>
                        <a:t>+7,92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N4 — CBAM + RA sau phép nối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+1,58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−2,25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+1,33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+1,87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22959" y="7310628"/>
            <a:ext cx="1664162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31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150" b="1" i="0">
                <a:solidFill>
                  <a:srgbClr val="2D2D2D"/>
                </a:solidFill>
                <a:latin typeface="Arial"/>
              </a:rPr>
              <a:t>Nhánh đa tỷ lệ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dùng ba tầng đặc trưng, thêm cả nhánh chiếu lẫn hệ số hợp nhất học được, nhưng vẫn thấp hơn 0,30 điểm Dice.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2700" b="0" i="0">
                <a:solidFill>
                  <a:srgbClr val="777777"/>
                </a:solidFill>
                <a:latin typeface="Arial"/>
              </a:rPr>
              <a:t>ΔHD95 mang dấu âm là có lợi. Ô đỏ cho thấy nhánh RA nối tắt làm sai lệch biên xấu đi 16,79 mm.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liệu do khóa luận tự đo — Bảng 4.4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1F4E79"/>
                </a:solidFill>
                <a:latin typeface="Arial"/>
              </a:rPr>
              <a:t>Ba câu hỏi đặt ra ở đầu bài đều đã có câu trả lời bằng số liệu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2784348"/>
            <a:ext cx="16641622" cy="2002536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C8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3003804"/>
            <a:ext cx="754380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(i)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CBAM trước bước tạo token có cải thiện không?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976372"/>
            <a:ext cx="829817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1" i="0">
                <a:solidFill>
                  <a:srgbClr val="1F4E79"/>
                </a:solidFill>
                <a:latin typeface="Arial"/>
              </a:rPr>
              <a:t>→  CÓ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 i="0">
                <a:solidFill>
                  <a:srgbClr val="2D2D2D"/>
                </a:solidFill>
                <a:latin typeface="Arial"/>
              </a:rPr>
              <a:t>Dice +4,86 điểm và HD95 giảm 2,41 mm so với kiến trúc TransUNet.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" y="5061203"/>
            <a:ext cx="16641622" cy="2002536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C8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5280659"/>
            <a:ext cx="754380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(ii)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Có ưu thế hơn đa tỷ lệ và reverse attention không?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253227"/>
            <a:ext cx="829817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1" i="0">
                <a:solidFill>
                  <a:srgbClr val="7A5200"/>
                </a:solidFill>
                <a:latin typeface="Arial"/>
              </a:rPr>
              <a:t>→  CÓ, nhưng cần nói thận trọng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 i="0">
                <a:solidFill>
                  <a:srgbClr val="2D2D2D"/>
                </a:solidFill>
                <a:latin typeface="Arial"/>
              </a:rPr>
              <a:t>Dẫn đầu ở Dice và HD95; đa tỷ lệ nhỉnh hơn ở Jaccard, RA nối tắt nhỉnh hơn ở recall.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" y="7338059"/>
            <a:ext cx="16641622" cy="2002536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28575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7557516"/>
            <a:ext cx="754380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(iii)  </a:t>
            </a:r>
            <a:r>
              <a:rPr sz="3150" b="0" i="0">
                <a:solidFill>
                  <a:srgbClr val="2D2D2D"/>
                </a:solidFill>
                <a:latin typeface="Arial"/>
              </a:rPr>
              <a:t>Cấu hình nào cân bằng nhất?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7530083"/>
            <a:ext cx="8298179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1" i="0">
                <a:solidFill>
                  <a:srgbClr val="1F4E79"/>
                </a:solidFill>
                <a:latin typeface="Arial"/>
              </a:rPr>
              <a:t>→  Nhánh 2 — CBAM trước tạo token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 i="0">
                <a:solidFill>
                  <a:srgbClr val="2D2D2D"/>
                </a:solidFill>
                <a:latin typeface="Arial"/>
              </a:rPr>
              <a:t>Cấu hình duy nhất dẫn đầu đồng thời cả hai nhóm chỉ số.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liệu do khóa luận tự đo — Bảng 4.3 và Bảng 4.4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Kết quả định tính khớp với số liệu: đường viền tuyến tụy được khôi phục nhiều hơn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h4_2_dinh_tin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3105195"/>
            <a:ext cx="10424159" cy="62163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58600" y="2784348"/>
            <a:ext cx="58018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Quan sát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3470148"/>
            <a:ext cx="5801868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Trên các lát cắt được chọn, cấu hình đề xuất khôi phục được nhiều phần đường viền hơn so với kiến trúc TransUNet.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Xu hướng này trùng với hướng mà bốn chỉ số định lượng phản ánh.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Ảnh dự đoán do khóa luận tự sinh — Hình 4.2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Trên cùng cách chia 18/12, Dice tuyến tụy vượt Att-UNet, Swin-Unet và TransUNet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59" y="2784348"/>
          <a:ext cx="16641619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9862"/>
                <a:gridCol w="4910642"/>
                <a:gridCol w="2182507"/>
                <a:gridCol w="2046101"/>
                <a:gridCol w="2182507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Phương pháp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Kiểu kiến trúc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Dice tụy ↑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Dice TB ↑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FFFFFF"/>
                          </a:solidFill>
                          <a:latin typeface="Arial"/>
                        </a:rPr>
                        <a:t>HD95 TB ↓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V-Net [15]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CNN ba chiều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40,05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68,81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TransUNet [8], [27]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Kết hợp CNN – Transformer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55,86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77,48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31,69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Swin-Unet [22]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Transformer thuần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56,58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79,13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21,55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Att-UNet [19]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CNN kèm tầng attention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58,04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77,77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0" i="0">
                          <a:solidFill>
                            <a:srgbClr val="2D2D2D"/>
                          </a:solidFill>
                          <a:latin typeface="Arial"/>
                        </a:rPr>
                        <a:t>36,02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CBAM-TransUNet — khóa luận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Kết hợp, CBAM trước tạo token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59,23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78,15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00" b="1" i="0">
                          <a:solidFill>
                            <a:srgbClr val="1F4E79"/>
                          </a:solidFill>
                          <a:latin typeface="Arial"/>
                        </a:rPr>
                        <a:t>25,59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22959" y="7447788"/>
            <a:ext cx="1664162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00000"/>
                </a:solidFill>
                <a:latin typeface="Arial"/>
              </a:rPr>
              <a:t>Phép so sánh tham chiếu, không phải phép đo lại: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bốn dòng trên lấy nguyên từ công bố gốc, chỉ dòng cuối do khóa luận tự chạy.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[15] F. Milletari, N. Navab, S.-A. Ahmadi, “V-Net: Fully Convolutional Neural Networks for Volumetric Medical Image Segmentation,” 3DV, 2016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[19] O. Oktay và cộng sự, “Attention U-Net: Learning Where to Look for the Pancreas,” arXiv:1804.03999,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[22] H. Cao và cộng sự, “Swin-Unet: Unet-Like Pure Transformer for Medical Image Segmentation,” ECCV Workshops, 2023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[27] J. Chen và cộng sự, “TransUNet: Rethinking the U-Net Architecture Design,” Medical Image Analysis, 2024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VÀ ĐÁNH GIÁ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40766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Ch.5  Kết luận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Kết luận chỉ có hiệu lực trong lớp tuyến tụy: gan và động mạch chủ giảm nhẹ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59" y="2784348"/>
          <a:ext cx="8915398" cy="5431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6"/>
                <a:gridCol w="2192311"/>
                <a:gridCol w="2923081"/>
              </a:tblGrid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FFFFFF"/>
                          </a:solidFill>
                          <a:latin typeface="Arial"/>
                        </a:rPr>
                        <a:t>Cơ quan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FFFFFF"/>
                          </a:solidFill>
                          <a:latin typeface="Arial"/>
                        </a:rPr>
                        <a:t>ΔDice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FFFFFF"/>
                          </a:solidFill>
                          <a:latin typeface="Arial"/>
                        </a:rPr>
                        <a:t>ΔHD95 (mm)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Lách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+4,17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−23,96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1F4E79"/>
                          </a:solidFill>
                          <a:latin typeface="Arial"/>
                        </a:rPr>
                        <a:t>Tuyến tụy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1F4E79"/>
                          </a:solidFill>
                          <a:latin typeface="Arial"/>
                        </a:rPr>
                        <a:t>+4,86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1F4E79"/>
                          </a:solidFill>
                          <a:latin typeface="Arial"/>
                        </a:rPr>
                        <a:t>−2,41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Thận trái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+4,30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−15,36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Thận phải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+3,71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−17,80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Dạ dày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+2,77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−0,83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Túi mật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+0,53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0" i="0">
                          <a:solidFill>
                            <a:srgbClr val="2D2D2D"/>
                          </a:solidFill>
                          <a:latin typeface="Arial"/>
                        </a:rPr>
                        <a:t>−8,32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C00000"/>
                          </a:solidFill>
                          <a:latin typeface="Arial"/>
                        </a:rPr>
                        <a:t>Gan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C00000"/>
                          </a:solidFill>
                          <a:latin typeface="Arial"/>
                        </a:rPr>
                        <a:t>−0,55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C00000"/>
                          </a:solidFill>
                          <a:latin typeface="Arial"/>
                        </a:rPr>
                        <a:t>+7,45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C00000"/>
                          </a:solidFill>
                          <a:latin typeface="Arial"/>
                        </a:rPr>
                        <a:t>Động mạch chủ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C00000"/>
                          </a:solidFill>
                          <a:latin typeface="Arial"/>
                        </a:rPr>
                        <a:t>−0,85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50" b="1" i="0">
                          <a:solidFill>
                            <a:srgbClr val="C00000"/>
                          </a:solidFill>
                          <a:latin typeface="Arial"/>
                        </a:rPr>
                        <a:t>+8,05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287000" y="2784348"/>
            <a:ext cx="71734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2E75B6"/>
                </a:solidFill>
                <a:latin typeface="Arial"/>
              </a:rPr>
              <a:t>Vì sao chỉ kết luận cho tuyến tụy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470148"/>
            <a:ext cx="7173468" cy="5897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 i="0">
                <a:solidFill>
                  <a:srgbClr val="2D2D2D"/>
                </a:solidFill>
                <a:latin typeface="Arial"/>
              </a:rPr>
              <a:t>Sáu cơ quan cải thiện, hai cơ quan giảm nhẹ. Bức tranh không đồng nhất.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Vì vậy khóa luận chỉ phát biểu trong phạm vi lớp tuyến tụy và trong đúng giao thức đã báo cáo.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Mọi kết quả là nghiên cứu kỹ thuật trên dữ liệu công khai, không phải bằng chứng lâm sàng.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[16] A. A. Taha, A. Hanbury, “Metrics for evaluating 3D medical image segmentation,” BMC Medical Imaging,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ΔHD95 mang dấu âm là có lợi. Số liệu do khóa luận tự đo — Bảng 4.5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LUẬN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Ch.5  Kết luận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69090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Arial"/>
              </a:rPr>
              <a:t>Chi phí rất thấp so với lợi ích, nhưng đóng góp từng thành phần chưa được tách bạch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2784348"/>
            <a:ext cx="8092440" cy="678942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C8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3168395"/>
            <a:ext cx="7214616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450" b="1" i="0">
                <a:solidFill>
                  <a:srgbClr val="1F4E79"/>
                </a:solidFill>
                <a:latin typeface="Arial"/>
              </a:rPr>
              <a:t>Ưu điểm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Chi phí thấp: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+1,18 triệu tham số đổi lấy +4,86 Dice và −2,41 mm HD95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Không xâm lấn: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bảo toàn hình dạng tensor, không đổi siêu tham số nào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Cân bằng: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cấu hình duy nhất dẫn đầu cả Dice lẫn HD95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Kết nối phần dư: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mạng thoái lui được nếu khối không có ích  [11]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32620" y="2784348"/>
            <a:ext cx="7927848" cy="678942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28575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1532" y="3168395"/>
            <a:ext cx="7050023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3450" b="1" i="0">
                <a:solidFill>
                  <a:srgbClr val="7A5200"/>
                </a:solidFill>
                <a:latin typeface="Arial"/>
              </a:rPr>
              <a:t>Nhược điểm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Chưa tách bạch: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chưa loại bỏ từng thành phần với tham số cân bằng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Lợi ích không đều: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gan và động mạch chủ giảm nhẹ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Huấn luyện 2D: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chưa khai thác quan hệ giữa các lát liên tiếp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285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2850" b="1" i="0">
                <a:solidFill>
                  <a:srgbClr val="2D2D2D"/>
                </a:solidFill>
                <a:latin typeface="Arial"/>
              </a:rPr>
              <a:t>Phạm vi hẹp:  </a:t>
            </a:r>
            <a:r>
              <a:rPr sz="2850" b="0" i="0">
                <a:solidFill>
                  <a:srgbClr val="2D2D2D"/>
                </a:solidFill>
                <a:latin typeface="Arial"/>
              </a:rPr>
              <a:t>một bộ dữ liệu công khai duy nhất  [10]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[10] B. Landman và cộng sự, “MICCAI Multi-Atlas Labeling Beyond the Cranial Vault – Workshop and Challenge,” Synapse,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[11] K. He, X. Zhang, S. Ren, J. Sun, “Deep Residual Learning for Image Recognition,” CVPR, 2016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Đánh giá của khóa luận, mục 5.2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LUẬN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Ch.1  Mở đầu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284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Ch.2  Cơ sở lý thuyết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Ch.3 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933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777777"/>
                </a:solidFill>
                <a:latin typeface="Arial"/>
              </a:rPr>
              <a:t>Ch.4  Thực nghiệm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36258" y="905256"/>
            <a:ext cx="3328324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F4E79"/>
                </a:solidFill>
                <a:latin typeface="Arial"/>
              </a:rPr>
              <a:t>Ch.5  Kết luận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69090" y="1207008"/>
            <a:ext cx="2662659" cy="480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1F4E79"/>
                </a:solidFill>
                <a:latin typeface="Arial"/>
              </a:rPr>
              <a:t>Ba kết luận của khóa luận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784348"/>
            <a:ext cx="16641622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450" b="1" i="0">
                <a:solidFill>
                  <a:srgbClr val="2E75B6"/>
                </a:solidFill>
                <a:latin typeface="Arial"/>
              </a:rPr>
              <a:t>1.  </a:t>
            </a:r>
            <a:r>
              <a:rPr sz="3450" b="1" i="0">
                <a:solidFill>
                  <a:srgbClr val="1F4E79"/>
                </a:solidFill>
                <a:latin typeface="Arial"/>
              </a:rPr>
              <a:t>Vị trí đặt Attention là một biến thiết kế độc lập.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Điểm nối ngay trước bước tạo token xứng đáng được xem xét riêng.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450" b="1" i="0">
                <a:solidFill>
                  <a:srgbClr val="2E75B6"/>
                </a:solidFill>
                <a:latin typeface="Arial"/>
              </a:rPr>
              <a:t>2.  </a:t>
            </a:r>
            <a:r>
              <a:rPr sz="3450" b="1" i="0">
                <a:solidFill>
                  <a:srgbClr val="1F4E79"/>
                </a:solidFill>
                <a:latin typeface="Arial"/>
              </a:rPr>
              <a:t>Chi phí +1,1% tham số đổi lấy +4,86 điểm Dice và −2,41 mm HD95.</a:t>
            </a:r>
            <a:r>
              <a:rPr sz="3450" b="0" i="0">
                <a:solidFill>
                  <a:srgbClr val="2D2D2D"/>
                </a:solidFill>
                <a:latin typeface="Arial"/>
              </a:rPr>
              <a:t>  Đây là cấu hình duy nhất dẫn đầu đồng thời cả hai nhóm chỉ số.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450" b="1" i="0">
                <a:solidFill>
                  <a:srgbClr val="2E75B6"/>
                </a:solidFill>
                <a:latin typeface="Arial"/>
              </a:rPr>
              <a:t>3.  </a:t>
            </a:r>
            <a:r>
              <a:rPr sz="3450" b="1" i="0">
                <a:solidFill>
                  <a:srgbClr val="1F4E79"/>
                </a:solidFill>
                <a:latin typeface="Arial"/>
              </a:rPr>
              <a:t>Không thể chọn mô hình theo một chỉ số đơn lẻ.  </a:t>
            </a:r>
            <a:r>
              <a:rPr sz="3450" b="0" i="0">
                <a:solidFill>
                  <a:srgbClr val="2D2D2D"/>
                </a:solidFill>
                <a:latin typeface="Arial"/>
              </a:rPr>
              <a:t>Nhánh recall cao nhất lại có sai lệch biên tệ nhất.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7749540"/>
            <a:ext cx="16641622" cy="1399032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285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8023860"/>
            <a:ext cx="15818662" cy="850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2850" b="0" i="0">
                <a:solidFill>
                  <a:srgbClr val="2D2D2D"/>
                </a:solidFill>
                <a:latin typeface="Arial"/>
              </a:rPr>
              <a:t>Kết quả đã được viết thành bài báo </a:t>
            </a:r>
            <a:r>
              <a:rPr sz="2850" b="1" i="0">
                <a:solidFill>
                  <a:srgbClr val="1F4E79"/>
                </a:solidFill>
                <a:latin typeface="Arial"/>
              </a:rPr>
              <a:t>“CBAM-TransUNet: A Pre-Patch Attention Model for Pancreas Segmentation in CT Images”</a:t>
            </a:r>
            <a:r>
              <a:rPr sz="2850" b="0" i="0">
                <a:solidFill>
                  <a:srgbClr val="2D2D2D"/>
                </a:solidFill>
                <a:latin typeface="Arial"/>
              </a:rPr>
              <a:t>, nộp tại hội nghị IC3T 2026, mã bài số 88.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8997696"/>
            <a:ext cx="1664162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1">
                <a:solidFill>
                  <a:srgbClr val="777777"/>
                </a:solidFill>
                <a:latin typeface="Arial"/>
              </a:rPr>
              <a:t>Xin cảm ơn quý Thầy Cô trong hội đồng đã lắng nghe.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/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TÀI LIỆU THAM KHẢO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1F4E79"/>
                </a:solidFill>
                <a:latin typeface="Arial"/>
              </a:rPr>
              <a:t>Tài liệu tham khảo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784348"/>
            <a:ext cx="8023859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[3] H. R. Roth và cộng sự, “DeepOrgan: Multi-level Deep Convolutional Networks for Automated Pancreas Segmentation,” MICCAI, 2015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[4] J. Ma và cộng sự, “AbdomenCT-1K: Is Abdominal Organ Segmentation a Solved Problem?,” IEEE TPAMI, 2022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[6] O. Ronneberger, P. Fischer, T. Brox, “U-Net: Convolutional Networks for Biomedical Image Segmentation,” MICCAI, 2015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[7] A. Vaswani và cộng sự, “Attention Is All You Need,” NeurIPS, 2017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[10] B. Landman và cộng sự, “MICCAI Multi-Atlas Labeling Beyond the Cranial Vault – Workshop and Challenge,” Synapse, 2015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[11] K. He, X. Zhang, S. Ren, J. Sun, “Deep Residual Learning for Image Recognition,” CVPR, 2016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[12] A. Dosovitskiy và cộng sự, “An Image Is Worth 16x16 Words,” ICLR,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2784348"/>
            <a:ext cx="8023859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[15] F. Milletari, N. Navab, S.-A. Ahmadi, “V-Net: Fully Convolutional Neural Networks for Volumetric Medical Image Segmentation,” 3DV, 2016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[16] A. A. Taha, A. Hanbury, “Metrics for evaluating 3D medical image segmentation,” BMC Medical Imaging, 2015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[19] O. Oktay và cộng sự, “Attention U-Net: Learning Where to Look for the Pancreas,” arXiv:1804.03999, 2018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[22] H. Cao và cộng sự, “Swin-Unet: Unet-Like Pure Transformer for Medical Image Segmentation,” ECCV Workshops, 2023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[25] J. Hu, L. Shen, G. Sun, “Squeeze-and-Excitation Networks,” CVPR, 2018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[26] F. Lu, J. Xu, Q. Sun, Q. Lou, “FMD-TransUNet,” Applied Intelligence, 2025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[27] J. Chen và cộng sự, “TransUNet: Rethinking the U-Net Architecture Design,” Medical Image Analysis, 2024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2D2D"/>
                </a:solidFill>
                <a:latin typeface="Arial"/>
              </a:rPr>
              <a:t>[29] D.-P. Fan và cộng sự, “PraNet: Parallel Reverse Attention Network for Polyp Segmentation,” MICCAI,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9134856"/>
            <a:ext cx="1664162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77777"/>
                </a:solidFill>
                <a:latin typeface="Arial"/>
              </a:rPr>
              <a:t>Số hiệu giữ đúng như trong khóa luận. Nguồn của từng luận điểm được ghi ngay dưới chân slide tương ứng.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Dice 59% là cao hay thấp đối với riêng lớp tuyến tụy?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784348"/>
            <a:ext cx="16641622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Bối cảnh: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tuyến tụy là lớp có Dice thấp nhất nhì trong tám cơ quan ở mọi công trình, do tương phản thấp và thể tích nhỏ.  [3], [4]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Trên cùng cách chia: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V-Net [15] 40,05  ·  TransUNet [8] 55,86  ·  Swin-Unet [22] 56,58  ·  Att-UNet [19] 58,04  ·  khóa luận 59,23.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Lưu ý: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con số tuyệt đối phụ thuộc tiền xử lý và hậu xử lý; điều khóa luận khẳng định là chênh lệch nội bộ giữa năm cấu hình chạy cùng giao thức.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[3] H. R. Roth và cộng sự, “DeepOrgan: Multi-level Deep Convolutional Networks for Automated Pancreas Segmentation,” MICCAI,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[4] J. Ma và cộng sự, “AbdomenCT-1K: Is Abdominal Organ Segmentation a Solved Problem?,” IEEE TPAMI, 2022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[15] F. Milletari, N. Navab, S.-A. Ahmadi, “V-Net: Fully Convolutional Neural Networks for Volumetric Medical Image Segmentation,” 3DV, 2016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[19] O. Oktay và cộng sự, “Attention U-Net: Learning Where to Look for the Pancreas,” arXiv:1804.03999,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[22] H. Cao và cộng sự, “Swin-Unet: Unet-Like Pure Transformer for Medical Image Segmentation,” ECCV Workshops, 2023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Bên trong CBAM: hai mô-đun thành phần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h2_1_cb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3003331"/>
            <a:ext cx="8503920" cy="39511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38359" y="2852927"/>
            <a:ext cx="7722108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Theo kênh: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gộp theo hai chiều không gian bằng trung bình và cực đại, đưa qua một perceptron nhiều tầng dùng chung, cộng lại rồi lấy sigmoid.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Theo không gian: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gộp theo chiều kênh bằng trung bình và cực đại, nối lại, đưa qua một tầng tích chập 7×7 rồi lấy sigmoid.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Thứ tự: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nhân theo kênh trước, nhân theo không gian sau, cuối cùng cộng phần dư.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[25] J. Hu, L. Shen, G. Sun, “Squeeze-and-Excitation Networks,” CVPR,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Nguồn hình: [9] — Hình 2.1 của khóa luận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F4E79"/>
                </a:solidFill>
                <a:latin typeface="Arial"/>
              </a:rPr>
              <a:t>Vì sao chưa tách riêng đóng góp của tầng theo kênh và tầng theo không gian?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784348"/>
            <a:ext cx="16641622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Thừa nhận: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khóa luận đo hiệu quả của cả khối đặt tại một vị trí, chưa thực hiện thí nghiệm loại bỏ từng thành phần với số tham số được cân bằng.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Vì sao: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câu hỏi nghiên cứu là VỊ TRÍ đặt khối, không phải THÀNH PHẦN nào trong khối. Mỗi nhánh phải trả giá bằng một lần huấn luyện đầy đủ 150 vòng.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Kế tiếp: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đây là hướng phát triển thứ nhất đã nêu ở mục 5.3.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[9] S. Woo, J. Park, J.-Y. Lee, I. S. Kweon, “CBAM: Convolutional Block Attention Module,”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Nhận định của khóa luận, mục 4.6 và 5.2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Cấu hình huấn luyện chi tiết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59" y="2784348"/>
          <a:ext cx="16641621" cy="6172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63290"/>
                <a:gridCol w="11678331"/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FFFFFF"/>
                          </a:solidFill>
                          <a:latin typeface="Arial"/>
                        </a:rPr>
                        <a:t>Thành phần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1" i="0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Bộ dữ liệu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Synapse (BTCV), 18 ca huấn luyện / 12 ca kiểm thử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Kích thước đầu vào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224 × 224, ba kênh nhân bản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Kiến trúc gốc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R50-ViT-B/16, 12 khối Transformer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Số vòng huấn luyện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Hàm mất mát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Entropy chéo kết hợp Dice loss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Phần cứng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Một GPU NVIDIA Tesla T4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Hạt giống ngẫu nhiên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Cố định cho cả năm cấu hình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Cách đánh giá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50" b="0" i="0">
                          <a:solidFill>
                            <a:srgbClr val="2D2D2D"/>
                          </a:solidFill>
                          <a:latin typeface="Arial"/>
                        </a:rPr>
                        <a:t>Theo khối ba chiều, ghép từ dự đoán từng lát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[10] B. Landman và cộng sự, “MICCAI Multi-Atlas Labeling Beyond the Cranial Vault – Workshop and Challenge,” Synapse,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Thiết lập do khóa luận cấu hình — Bảng 4.2; tham số dòng lệnh đầy đủ ở Phụ lục A của khóa luận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Kết quả đầy đủ trên tám cơ quan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59" y="2784348"/>
          <a:ext cx="16641618" cy="5678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61457"/>
                <a:gridCol w="2529526"/>
                <a:gridCol w="2263260"/>
                <a:gridCol w="1730728"/>
                <a:gridCol w="2529526"/>
                <a:gridCol w="2263260"/>
                <a:gridCol w="1863861"/>
              </a:tblGrid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Cơ quan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Dice TransUNet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Dice đề xuất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ΔDice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HD95 TransUNet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HD95 đề xuất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FFFFFF"/>
                          </a:solidFill>
                          <a:latin typeface="Arial"/>
                        </a:rPr>
                        <a:t>ΔHD95</a:t>
                      </a:r>
                    </a:p>
                  </a:txBody>
                  <a:tcPr marL="123444" marR="123444" marT="41148" marB="41148" anchor="ctr">
                    <a:solidFill>
                      <a:srgbClr val="1F4E79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Động mạch chủ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87,45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86,59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−0,85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5,37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13,42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+8,05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Túi mật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50,32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50,84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+0,53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40,34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32,02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−8,32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Thận trái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81,32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85,62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+4,30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49,97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34,62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−15,36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Thận phải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78,23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81,94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+3,71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49,34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31,54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−17,80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Gan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94,34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93,79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−0,55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25,89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33,34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C00000"/>
                          </a:solidFill>
                          <a:latin typeface="Arial"/>
                        </a:rPr>
                        <a:t>+7,45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Tuyến tụy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54,37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59,23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+4,86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15,38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12,97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>
                          <a:solidFill>
                            <a:srgbClr val="1F4E79"/>
                          </a:solidFill>
                          <a:latin typeface="Arial"/>
                        </a:rPr>
                        <a:t>−2,41</a:t>
                      </a:r>
                    </a:p>
                  </a:txBody>
                  <a:tcPr marL="123444" marR="123444" marT="41148" marB="41148" anchor="ctr">
                    <a:solidFill>
                      <a:srgbClr val="FFF2C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Lách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85,69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89,86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+4,17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53,12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29,16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−23,96</a:t>
                      </a:r>
                    </a:p>
                  </a:txBody>
                  <a:tcPr marL="123444" marR="123444" marT="41148" marB="4114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Dạ dày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74,54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77,31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+2,77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18,46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17,62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2D2D2D"/>
                          </a:solidFill>
                          <a:latin typeface="Arial"/>
                        </a:rPr>
                        <a:t>−0,83</a:t>
                      </a:r>
                    </a:p>
                  </a:txBody>
                  <a:tcPr marL="123444" marR="123444" marT="41148" marB="41148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[16] A. A. Taha, A. Hanbury, “Metrics for evaluating 3D medical image segmentation,” BMC Medical Imaging,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ΔHD95 mang dấu âm là có lợi. Hai dòng chữ đỏ là hai cơ quan giảm. Số liệu do khóa luận tự đo — Bảng 4.5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Vì sao chỉ một bộ dữ liệu và vì sao huấn luyện theo lát hai chiều?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784348"/>
            <a:ext cx="16641622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Một bộ dữ liệu: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Synapse [10] với cách chia 18/12 là thiết lập mà TransUNet [8] và phần lớn công trình đối chiếu dùng, nên kết quả đặt được vào bối cảnh chung.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Theo lát 2D: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giữ đúng thiết lập của TransUNet để biến duy nhất thay đổi là vị trí đặt attention; chuyển sang mô hình ba chiều sẽ đổi nhiều yếu tố cùng lúc.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Hướng tiếp: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mở rộng sang bộ dữ liệu tuyến tụy khác [4], và đưa vào một số lát lân cận thay vì một lát đơn lẻ.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[4] J. Ma và cộng sự, “AbdomenCT-1K: Is Abdominal Organ Segmentation a Solved Problem?,” IEEE TPAMI, 2022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[8] J. Chen và cộng sự, “TransUNet: Transformers Make Strong Encoders for Medical Image Segmentation,” arXiv:2102.04306, 2021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[10] B. Landman và cộng sự, “MICCAI Multi-Atlas Labeling Beyond the Cranial Vault – Workshop and Challenge,” Synapse, 2015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Hai nhánh đối chứng dùng Reverse Attention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h3_5_ra_noi_t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359" y="2784348"/>
            <a:ext cx="6869060" cy="5692140"/>
          </a:xfrm>
          <a:prstGeom prst="rect">
            <a:avLst/>
          </a:prstGeom>
        </p:spPr>
      </p:pic>
      <p:pic>
        <p:nvPicPr>
          <p:cNvPr id="18" name="Picture 17" descr="h3_6_ra_sau_no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1439" y="2784348"/>
            <a:ext cx="6869060" cy="56921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59" y="8750808"/>
            <a:ext cx="80238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F4E79"/>
                </a:solidFill>
                <a:latin typeface="Arial"/>
              </a:rPr>
              <a:t>N3 — RA trên nhánh nối tắt 1/8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8586216"/>
            <a:ext cx="80238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F4E79"/>
                </a:solidFill>
                <a:latin typeface="Arial"/>
              </a:rPr>
              <a:t>N4 — RA sau phép nối đầu tiên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[28] S. Chen, X. Tan, B. Wang, X. Hu, “Reverse Attention for Salient Object Detection,” ECCV, 2018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[29] D.-P. Fan và cộng sự, “PraNet: Parallel Reverse Attention Network for Polyp Segmentation,” MICCAI, 2020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Hai nhánh đối chứng do khóa luận thiết kế — Hình 3.5 và Hình 3.6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HD95 là gì và vì sao phải dùng cùng lúc bốn chỉ số?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784348"/>
            <a:ext cx="16641622" cy="580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HD95: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phân vị 95 của khoảng cách Hausdorff giữa viền dự đoán và viền nhãn. Lấy phân vị 95 thay vì cực đại để bớt nhạy với một vài điểm lạc.  [16]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Vì sao chưa đủ: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Dice và Jaccard đo phần chồng lấn nên bỏ qua hình dạng viền. Một dự đoán phình ra đúng chỗ vẫn có Dice tốt.  [16]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33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300" b="1" i="0">
                <a:solidFill>
                  <a:srgbClr val="2D2D2D"/>
                </a:solidFill>
                <a:latin typeface="Arial"/>
              </a:rPr>
              <a:t>Bằng chứng:  </a:t>
            </a:r>
            <a:r>
              <a:rPr sz="3300" b="0" i="0">
                <a:solidFill>
                  <a:srgbClr val="2D2D2D"/>
                </a:solidFill>
                <a:latin typeface="Arial"/>
              </a:rPr>
              <a:t>nhánh RA nối tắt có recall cao nhất 52,33% nhưng HD95 32,17 mm. Chỉ nhìn recall sẽ chọn nhầm.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[16] A. A. Taha, A. Hanbury, “Metrics for evaluating 3D medical image segmentation,” BMC Medical Imaging, 2015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Số liệu do khóa luận tự đo — Bảng 4.3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28959DE2-F22A-C767-31D6-80DE289246DE}"/>
              </a:ext>
            </a:extLst>
          </p:cNvPr>
          <p:cNvSpPr/>
          <p:nvPr/>
        </p:nvSpPr>
        <p:spPr>
          <a:xfrm>
            <a:off x="1307318" y="813366"/>
            <a:ext cx="17049750" cy="19050"/>
          </a:xfrm>
          <a:prstGeom prst="line">
            <a:avLst/>
          </a:prstGeom>
          <a:ln w="9525" cap="rnd">
            <a:solidFill>
              <a:srgbClr val="EF682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D69F44-9B75-80AF-B7B8-39072372A39D}"/>
              </a:ext>
            </a:extLst>
          </p:cNvPr>
          <p:cNvGrpSpPr/>
          <p:nvPr/>
        </p:nvGrpSpPr>
        <p:grpSpPr>
          <a:xfrm>
            <a:off x="-28575" y="-34712"/>
            <a:ext cx="3231671" cy="870611"/>
            <a:chOff x="0" y="0"/>
            <a:chExt cx="2546350" cy="68598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81C7E5-E9BA-2B50-08FF-A75E1B3AA015}"/>
                </a:ext>
              </a:extLst>
            </p:cNvPr>
            <p:cNvSpPr/>
            <p:nvPr/>
          </p:nvSpPr>
          <p:spPr>
            <a:xfrm>
              <a:off x="-2667" y="0"/>
              <a:ext cx="2549017" cy="685984"/>
            </a:xfrm>
            <a:custGeom>
              <a:avLst/>
              <a:gdLst/>
              <a:ahLst/>
              <a:cxnLst/>
              <a:rect l="l" t="t" r="r" b="b"/>
              <a:pathLst>
                <a:path w="2549017" h="685984">
                  <a:moveTo>
                    <a:pt x="2044827" y="678981"/>
                  </a:moveTo>
                  <a:lnTo>
                    <a:pt x="3937" y="685984"/>
                  </a:lnTo>
                  <a:cubicBezTo>
                    <a:pt x="7620" y="304119"/>
                    <a:pt x="0" y="381864"/>
                    <a:pt x="3683" y="0"/>
                  </a:cubicBezTo>
                  <a:lnTo>
                    <a:pt x="2549017" y="715"/>
                  </a:lnTo>
                  <a:lnTo>
                    <a:pt x="2044827" y="678981"/>
                  </a:lnTo>
                  <a:close/>
                </a:path>
              </a:pathLst>
            </a:custGeom>
            <a:solidFill>
              <a:srgbClr val="1845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hlinkClick r:id="rId2" action="ppaction://hlinksldjump"/>
            <a:extLst>
              <a:ext uri="{FF2B5EF4-FFF2-40B4-BE49-F238E27FC236}">
                <a16:creationId xmlns:a16="http://schemas.microsoft.com/office/drawing/2014/main" id="{AF55650E-5B40-2BFA-74B3-D8FA947CDC19}"/>
              </a:ext>
            </a:extLst>
          </p:cNvPr>
          <p:cNvSpPr/>
          <p:nvPr/>
        </p:nvSpPr>
        <p:spPr>
          <a:xfrm>
            <a:off x="1798189" y="173422"/>
            <a:ext cx="598949" cy="548855"/>
          </a:xfrm>
          <a:custGeom>
            <a:avLst/>
            <a:gdLst/>
            <a:ahLst/>
            <a:cxnLst/>
            <a:rect l="l" t="t" r="r" b="b"/>
            <a:pathLst>
              <a:path w="598949" h="548855">
                <a:moveTo>
                  <a:pt x="0" y="0"/>
                </a:moveTo>
                <a:lnTo>
                  <a:pt x="598948" y="0"/>
                </a:lnTo>
                <a:lnTo>
                  <a:pt x="598948" y="548855"/>
                </a:lnTo>
                <a:lnTo>
                  <a:pt x="0" y="548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984855-2205-5A8B-40AE-D1CDCF1F14CE}"/>
              </a:ext>
            </a:extLst>
          </p:cNvPr>
          <p:cNvGrpSpPr/>
          <p:nvPr/>
        </p:nvGrpSpPr>
        <p:grpSpPr>
          <a:xfrm>
            <a:off x="261170" y="-142864"/>
            <a:ext cx="1836493" cy="1228460"/>
            <a:chOff x="0" y="-47625"/>
            <a:chExt cx="1996688" cy="13356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B5ED2E-69B2-852C-AA09-D6FCE756C620}"/>
                </a:ext>
              </a:extLst>
            </p:cNvPr>
            <p:cNvSpPr/>
            <p:nvPr/>
          </p:nvSpPr>
          <p:spPr>
            <a:xfrm>
              <a:off x="0" y="0"/>
              <a:ext cx="1996688" cy="1287992"/>
            </a:xfrm>
            <a:custGeom>
              <a:avLst/>
              <a:gdLst/>
              <a:ahLst/>
              <a:cxnLst/>
              <a:rect l="l" t="t" r="r" b="b"/>
              <a:pathLst>
                <a:path w="1996688" h="1287992">
                  <a:moveTo>
                    <a:pt x="0" y="0"/>
                  </a:moveTo>
                  <a:lnTo>
                    <a:pt x="1996688" y="0"/>
                  </a:lnTo>
                  <a:lnTo>
                    <a:pt x="1996688" y="1287992"/>
                  </a:lnTo>
                  <a:lnTo>
                    <a:pt x="0" y="1287992"/>
                  </a:lnTo>
                  <a:close/>
                </a:path>
              </a:pathLst>
            </a:custGeom>
            <a:solidFill>
              <a:srgbClr val="18459E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10E48B-EEC0-1758-B90D-4BA93CAEDCCC}"/>
                </a:ext>
              </a:extLst>
            </p:cNvPr>
            <p:cNvSpPr txBox="1"/>
            <p:nvPr/>
          </p:nvSpPr>
          <p:spPr>
            <a:xfrm>
              <a:off x="0" y="-47625"/>
              <a:ext cx="1996688" cy="1335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72"/>
                </a:lnSpc>
              </a:pPr>
              <a:r>
                <a:rPr lang="en-US" sz="5900" b="1">
                  <a:solidFill>
                    <a:schemeClr val="bg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728F04-2682-533F-07F3-1260823DE7CE}"/>
              </a:ext>
            </a:extLst>
          </p:cNvPr>
          <p:cNvGrpSpPr/>
          <p:nvPr/>
        </p:nvGrpSpPr>
        <p:grpSpPr>
          <a:xfrm>
            <a:off x="5192569" y="51135"/>
            <a:ext cx="10462960" cy="955812"/>
            <a:chOff x="0" y="0"/>
            <a:chExt cx="6964858" cy="6362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147D04-EDEF-D151-460F-85DBC52D4722}"/>
                </a:ext>
              </a:extLst>
            </p:cNvPr>
            <p:cNvSpPr/>
            <p:nvPr/>
          </p:nvSpPr>
          <p:spPr>
            <a:xfrm>
              <a:off x="0" y="0"/>
              <a:ext cx="6964858" cy="636253"/>
            </a:xfrm>
            <a:custGeom>
              <a:avLst/>
              <a:gdLst/>
              <a:ahLst/>
              <a:cxnLst/>
              <a:rect l="l" t="t" r="r" b="b"/>
              <a:pathLst>
                <a:path w="6964858" h="636253">
                  <a:moveTo>
                    <a:pt x="0" y="0"/>
                  </a:moveTo>
                  <a:lnTo>
                    <a:pt x="6964858" y="0"/>
                  </a:lnTo>
                  <a:lnTo>
                    <a:pt x="6964858" y="636253"/>
                  </a:lnTo>
                  <a:lnTo>
                    <a:pt x="0" y="6362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8374CA-C465-156B-78BD-598A00448973}"/>
                </a:ext>
              </a:extLst>
            </p:cNvPr>
            <p:cNvSpPr txBox="1"/>
            <p:nvPr/>
          </p:nvSpPr>
          <p:spPr>
            <a:xfrm>
              <a:off x="0" y="-47625"/>
              <a:ext cx="6964858" cy="6838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PHỤ LỤC</a:t>
              </a:r>
            </a:p>
          </p:txBody>
        </p:sp>
      </p:grpSp>
      <p:sp>
        <p:nvSpPr>
          <p:cNvPr id="13" name="Freeform 23">
            <a:hlinkClick r:id="rId5" action="ppaction://hlinksldjump"/>
            <a:extLst>
              <a:ext uri="{FF2B5EF4-FFF2-40B4-BE49-F238E27FC236}">
                <a16:creationId xmlns:a16="http://schemas.microsoft.com/office/drawing/2014/main" id="{155A42A0-158A-7235-22F6-63B329BD2750}"/>
              </a:ext>
            </a:extLst>
          </p:cNvPr>
          <p:cNvSpPr/>
          <p:nvPr/>
        </p:nvSpPr>
        <p:spPr>
          <a:xfrm>
            <a:off x="16988659" y="228136"/>
            <a:ext cx="484151" cy="458128"/>
          </a:xfrm>
          <a:custGeom>
            <a:avLst/>
            <a:gdLst/>
            <a:ahLst/>
            <a:cxnLst/>
            <a:rect l="l" t="t" r="r" b="b"/>
            <a:pathLst>
              <a:path w="484151" h="458128">
                <a:moveTo>
                  <a:pt x="0" y="0"/>
                </a:moveTo>
                <a:lnTo>
                  <a:pt x="484151" y="0"/>
                </a:lnTo>
                <a:lnTo>
                  <a:pt x="484151" y="458128"/>
                </a:lnTo>
                <a:lnTo>
                  <a:pt x="0" y="4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59" y="905256"/>
            <a:ext cx="1664162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77777"/>
                </a:solidFill>
                <a:latin typeface="Arial"/>
              </a:rPr>
              <a:t>Phụ lục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357884"/>
            <a:ext cx="1664162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1F4E79"/>
                </a:solidFill>
                <a:latin typeface="Arial"/>
              </a:rPr>
              <a:t>Xác nhận nộp bài tại hội nghị IC3T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564892"/>
            <a:ext cx="16641622" cy="246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h5_1_cm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559" y="2784348"/>
            <a:ext cx="6617361" cy="5760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87000" y="2674620"/>
            <a:ext cx="7173468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150" b="1" i="0">
                <a:solidFill>
                  <a:srgbClr val="1F4E79"/>
                </a:solidFill>
                <a:latin typeface="Arial"/>
              </a:rPr>
              <a:t>“CBAM-TransUNet: A Pre-Patch Attention Model for Pancreas Segmentation in CT Images”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Tác giả: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Danh Hoàng Hiếu Nghị, Võ Thị Hồng Tuyết (tác giả liên hệ), Nguyễn Thanh Bình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Nơi nộp: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Hội nghị quốc tế lần thứ tám về Công nghệ Máy tính và Truyền thông (IC3T 2026)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 i="0">
                <a:solidFill>
                  <a:srgbClr val="2E75B6"/>
                </a:solidFill>
                <a:latin typeface="Arial"/>
              </a:rPr>
              <a:t>▪  </a:t>
            </a:r>
            <a:r>
              <a:rPr sz="3000" b="1" i="0">
                <a:solidFill>
                  <a:srgbClr val="2D2D2D"/>
                </a:solidFill>
                <a:latin typeface="Arial"/>
              </a:rPr>
              <a:t>Ngày nộp:  </a:t>
            </a:r>
            <a:r>
              <a:rPr sz="3000" b="0" i="0">
                <a:solidFill>
                  <a:srgbClr val="2D2D2D"/>
                </a:solidFill>
                <a:latin typeface="Arial"/>
              </a:rPr>
              <a:t>31 tháng 7 năm 2026, mã bài số 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8586216"/>
            <a:ext cx="16641622" cy="9326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Arial"/>
              </a:rPr>
              <a:t>Thư xác nhận của hệ thống Microsoft CMT — Hình 5.1 của khóa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F6C92AF5C3644A80DF1E10BD11F764" ma:contentTypeVersion="16" ma:contentTypeDescription="Create a new document." ma:contentTypeScope="" ma:versionID="d7925e23341c37a5fe80d3dcd3cc6aad">
  <xsd:schema xmlns:xsd="http://www.w3.org/2001/XMLSchema" xmlns:xs="http://www.w3.org/2001/XMLSchema" xmlns:p="http://schemas.microsoft.com/office/2006/metadata/properties" xmlns:ns3="d7ed70eb-0c61-4646-b7b1-a8b68591666b" xmlns:ns4="a62c9d76-3733-4eb5-9282-9be5bfdc8a65" targetNamespace="http://schemas.microsoft.com/office/2006/metadata/properties" ma:root="true" ma:fieldsID="afea00864ce370c61cf6179eddcd0ff3" ns3:_="" ns4:_="">
    <xsd:import namespace="d7ed70eb-0c61-4646-b7b1-a8b68591666b"/>
    <xsd:import namespace="a62c9d76-3733-4eb5-9282-9be5bfdc8a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d70eb-0c61-4646-b7b1-a8b6859166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c9d76-3733-4eb5-9282-9be5bfdc8a6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ed70eb-0c61-4646-b7b1-a8b68591666b" xsi:nil="true"/>
  </documentManagement>
</p:properties>
</file>

<file path=customXml/itemProps1.xml><?xml version="1.0" encoding="utf-8"?>
<ds:datastoreItem xmlns:ds="http://schemas.openxmlformats.org/officeDocument/2006/customXml" ds:itemID="{65A046FE-D1E4-453F-997E-E6CD242687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5C7837-DBDA-4734-B673-7642A8BEBD7E}">
  <ds:schemaRefs>
    <ds:schemaRef ds:uri="a62c9d76-3733-4eb5-9282-9be5bfdc8a65"/>
    <ds:schemaRef ds:uri="d7ed70eb-0c61-4646-b7b1-a8b6859166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1F5C24-7E58-4367-919D-4BC859EE4BBB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d7ed70eb-0c61-4646-b7b1-a8b68591666b"/>
    <ds:schemaRef ds:uri="http://schemas.openxmlformats.org/package/2006/metadata/core-properties"/>
    <ds:schemaRef ds:uri="http://schemas.microsoft.com/office/infopath/2007/PartnerControls"/>
    <ds:schemaRef ds:uri="a62c9d76-3733-4eb5-9282-9be5bfdc8a6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PresentationFormat>Custom</PresentationFormat>
  <Paragraphs>242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Calibri</vt:lpstr>
      <vt:lpstr>Arial</vt:lpstr>
      <vt:lpstr>Arial Italics</vt:lpstr>
      <vt:lpstr>Montserrat Heavy</vt:lpstr>
      <vt:lpstr>Arial Bold</vt:lpstr>
      <vt:lpstr>Aptos</vt:lpstr>
      <vt:lpstr>Calibri (MS)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PhanLoaiKhoiUTrenDa_KLTN</dc:title>
  <dc:creator>Catherine Yu</dc:creator>
  <cp:lastModifiedBy>Nguyễn Thị Phương Anh</cp:lastModifiedBy>
  <cp:revision>2</cp:revision>
  <dcterms:created xsi:type="dcterms:W3CDTF">2006-08-16T00:00:00Z</dcterms:created>
  <dcterms:modified xsi:type="dcterms:W3CDTF">2025-08-27T04:47:56Z</dcterms:modified>
  <dc:identifier>DAGqZ7khx2g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0x01010049F6C92AF5C3644A80DF1E10BD11F764</vt:lpwstr>
  </property>
</Properties>
</file>